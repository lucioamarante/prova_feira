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1" r:id="rId5"/>
    <p:sldId id="259" r:id="rId6"/>
    <p:sldId id="260" r:id="rId7"/>
    <p:sldId id="263" r:id="rId8"/>
    <p:sldId id="262" r:id="rId9"/>
    <p:sldId id="264" r:id="rId10"/>
    <p:sldId id="266" r:id="rId11"/>
    <p:sldId id="269" r:id="rId12"/>
    <p:sldId id="265" r:id="rId13"/>
    <p:sldId id="267" r:id="rId14"/>
    <p:sldId id="268" r:id="rId15"/>
    <p:sldId id="271" r:id="rId16"/>
    <p:sldId id="270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4" r:id="rId28"/>
    <p:sldId id="283" r:id="rId29"/>
    <p:sldId id="285" r:id="rId30"/>
    <p:sldId id="286" r:id="rId31"/>
    <p:sldId id="287" r:id="rId32"/>
    <p:sldId id="282" r:id="rId33"/>
    <p:sldId id="288" r:id="rId34"/>
    <p:sldId id="289" r:id="rId35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47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7CFA3C3-94A7-48A2-942E-6798305A65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A3D66263-FE9D-4797-87D1-0C5D4826545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1E69554-9136-4F01-951E-9380961E51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6A88CC-856A-4B50-8CF1-70A4FB309B71}" type="datetimeFigureOut">
              <a:rPr lang="pt-BR" smtClean="0"/>
              <a:t>23/06/2026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A47F1AA2-F014-4534-A256-C92D610953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EBF724B8-94A0-46B5-AF4A-21C6DD615B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F15352-BC1E-4360-A88C-178307CA23C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623814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51F1FFC-7EDD-4E62-A222-CAC0B8ABD4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7BA3320-0546-4529-894F-002C316606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1F24B518-93A4-45AE-8B11-64113F5AD7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6A88CC-856A-4B50-8CF1-70A4FB309B71}" type="datetimeFigureOut">
              <a:rPr lang="pt-BR" smtClean="0"/>
              <a:t>23/06/2026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4400FB22-BEE9-42CA-AC97-C92986DB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54185D6-6DE9-4F99-9BB8-F3F3E9B8B0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F15352-BC1E-4360-A88C-178307CA23C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676845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D0FB80D-A285-44D8-B709-3272531DED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DC74644C-E8DA-455B-92B7-9B271145E86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54ED7E69-D396-456A-92A8-40AB52940F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6A88CC-856A-4B50-8CF1-70A4FB309B71}" type="datetimeFigureOut">
              <a:rPr lang="pt-BR" smtClean="0"/>
              <a:t>23/06/2026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EF55FE9-9F90-4C46-966F-E2C9B6A0E3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ED63095-0F67-4395-898B-C08054AD01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F15352-BC1E-4360-A88C-178307CA23C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978436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8C3AA92-B7EC-448D-A37F-D517A89B4E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E2936CC0-C59F-480B-AFB9-0D172DB116B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ED941FE6-EE11-4D0B-8CA3-8CC060BE78D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132ACFF6-674A-4BD9-A8C8-FE06DAC4E4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6A88CC-856A-4B50-8CF1-70A4FB309B71}" type="datetimeFigureOut">
              <a:rPr lang="pt-BR" smtClean="0"/>
              <a:t>23/06/2026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13C2C35D-882D-4019-895D-E7B9BCF5DA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739C1E42-308A-496D-AAEB-2FEB643C68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F15352-BC1E-4360-A88C-178307CA23C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748223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4ADC6E9-826E-4B2B-A252-2255C8A937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8585A1C8-EEB6-4A7C-B823-4F9B55BDA4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CFAC8191-C2D1-4C3E-9569-4A198D688CD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FF540C78-AF5C-4F62-BF5A-109DFD92FC3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6B5C7F14-9E9E-4F44-BE1A-44B8941F2B3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793D74BD-2EC9-466F-8799-35D816A682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6A88CC-856A-4B50-8CF1-70A4FB309B71}" type="datetimeFigureOut">
              <a:rPr lang="pt-BR" smtClean="0"/>
              <a:t>23/06/2026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94C616D5-2488-4EE7-914F-60605CCAC5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443433A5-08B8-4C9B-BC6E-E1150A0EC6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F15352-BC1E-4360-A88C-178307CA23C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386347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047A87C-DAAA-4173-9F0C-01D170E329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322ECFA8-2D93-4A80-AAA2-687BDD20A6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6A88CC-856A-4B50-8CF1-70A4FB309B71}" type="datetimeFigureOut">
              <a:rPr lang="pt-BR" smtClean="0"/>
              <a:t>23/06/2026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33F3ED7E-3F56-473A-8438-B1FF9A4CCA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7C40D4F8-75DB-4D43-B3BC-E1ED529E26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F15352-BC1E-4360-A88C-178307CA23C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98694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D19823D1-C39B-41F8-B58F-DFC2ACE32B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6A88CC-856A-4B50-8CF1-70A4FB309B71}" type="datetimeFigureOut">
              <a:rPr lang="pt-BR" smtClean="0"/>
              <a:t>23/06/2026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3A21D4FC-605C-44F5-9F51-6837001491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877F2B9D-0234-42C5-A653-C3C1AAB166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F15352-BC1E-4360-A88C-178307CA23C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609685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4DAD454-0948-4E57-BB12-2F06095204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F756991-AE93-448E-BA74-9CC2981FAC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1C0B3DD4-06CC-4408-837F-ADE0ABA0D68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1323CC87-5419-4531-AFDC-D429CCDA6D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6A88CC-856A-4B50-8CF1-70A4FB309B71}" type="datetimeFigureOut">
              <a:rPr lang="pt-BR" smtClean="0"/>
              <a:t>23/06/2026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6B49DC29-CCAC-4C57-842B-F1C5DF38A7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3D76E70D-4831-4A79-B4C9-8B67EAEE9E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F15352-BC1E-4360-A88C-178307CA23C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65697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DB23CAC-1BED-483D-9046-2173AD1B07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0D95C5F5-18FE-4255-8F4C-B0ABB2A4BFD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D3D8CE93-CA1E-4A8E-9CF5-2383A5B6366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CC6E08BF-9E56-47E1-86C8-6F260FA4C0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6A88CC-856A-4B50-8CF1-70A4FB309B71}" type="datetimeFigureOut">
              <a:rPr lang="pt-BR" smtClean="0"/>
              <a:t>23/06/2026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56E4E6CE-6668-480F-9326-93E557A686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A4525BF0-F955-403E-A624-5C095981D8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F15352-BC1E-4360-A88C-178307CA23C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236027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094E3FD-CF9E-4911-87F5-D07488D44D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41215157-B3DB-4B47-834E-672E76921D8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4304E1F-C66C-42D3-BF3D-8D255754E3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6A88CC-856A-4B50-8CF1-70A4FB309B71}" type="datetimeFigureOut">
              <a:rPr lang="pt-BR" smtClean="0"/>
              <a:t>23/06/2026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3B4DC4EE-DBA7-4F52-B34A-26DBF00F41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76182A00-F316-4FC4-9ABE-14127D6815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F15352-BC1E-4360-A88C-178307CA23C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660891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25E8AF94-4AF3-495F-8CFD-BD8CE900E50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EDE1BDD3-F1B7-4234-80B8-B2871EF7CB7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127CACC9-283E-4DF3-87BE-58689D9FB9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6A88CC-856A-4B50-8CF1-70A4FB309B71}" type="datetimeFigureOut">
              <a:rPr lang="pt-BR" smtClean="0"/>
              <a:t>23/06/2026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355A3BA8-CA67-4B15-A340-70AB2C5E2A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2CDB4D5-BAD1-4C72-933F-FC8A28F78C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F15352-BC1E-4360-A88C-178307CA23C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096301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23D36D27-FB7C-4D53-9270-F686426A58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90FDFC3A-8795-4CA5-B8E8-F21216C0669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669D16CA-ED7E-4733-9CC5-268AD10AF67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26A88CC-856A-4B50-8CF1-70A4FB309B71}" type="datetimeFigureOut">
              <a:rPr lang="pt-BR" smtClean="0"/>
              <a:t>23/06/2026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73CF3510-A247-45AA-9DCA-D53CD4C3632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98153F0-E5E8-4A61-9550-EFC102D377C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5F15352-BC1E-4360-A88C-178307CA23C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379645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3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6.pn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2D8A050-4600-427D-925E-5E5550DB5F9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/>
              <a:t>Desafios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83A25190-8DD1-4BD3-A8A8-20809F399D6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5235045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>
            <a:extLst>
              <a:ext uri="{FF2B5EF4-FFF2-40B4-BE49-F238E27FC236}">
                <a16:creationId xmlns:a16="http://schemas.microsoft.com/office/drawing/2014/main" id="{30215D07-40B8-4D52-AEAF-687B4394C0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0712" y="812028"/>
            <a:ext cx="7249182" cy="47135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506310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06BCE52-DD84-4555-A5CD-54A47BD2E4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Desafio </a:t>
            </a:r>
            <a:r>
              <a:rPr lang="pt-BR" b="1" dirty="0"/>
              <a:t>SQL</a:t>
            </a:r>
            <a:r>
              <a:rPr lang="pt-BR" dirty="0"/>
              <a:t> 01 (</a:t>
            </a:r>
            <a:r>
              <a:rPr lang="pt-BR" b="1" dirty="0"/>
              <a:t>SGDB MySQL</a:t>
            </a:r>
            <a:r>
              <a:rPr lang="pt-BR" dirty="0"/>
              <a:t>)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6EA42FFE-DD2B-40DD-BEBC-80EDC62D0D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pt-BR" dirty="0"/>
              <a:t>Considerando que a tabela curso possui vários campos entre eles: nome e descrição. Resolva o Desafio abaixo:</a:t>
            </a:r>
          </a:p>
          <a:p>
            <a:pPr lvl="1"/>
            <a:r>
              <a:rPr lang="pt-BR" dirty="0"/>
              <a:t>Utilize uma ou várias funções de </a:t>
            </a:r>
            <a:r>
              <a:rPr lang="pt-BR" dirty="0" err="1"/>
              <a:t>String</a:t>
            </a:r>
            <a:r>
              <a:rPr lang="pt-BR" dirty="0"/>
              <a:t> do MySQL(texto)</a:t>
            </a:r>
          </a:p>
          <a:p>
            <a:pPr lvl="2"/>
            <a:r>
              <a:rPr lang="pt-BR" dirty="0"/>
              <a:t>Nome:</a:t>
            </a:r>
          </a:p>
          <a:p>
            <a:pPr lvl="2"/>
            <a:r>
              <a:rPr lang="pt-BR" dirty="0"/>
              <a:t>Descrição:</a:t>
            </a:r>
          </a:p>
          <a:p>
            <a:pPr lvl="2"/>
            <a:endParaRPr lang="pt-BR" dirty="0"/>
          </a:p>
          <a:p>
            <a:pPr lvl="2"/>
            <a:endParaRPr lang="pt-BR" dirty="0"/>
          </a:p>
          <a:p>
            <a:pPr lvl="2"/>
            <a:endParaRPr lang="pt-BR" dirty="0"/>
          </a:p>
          <a:p>
            <a:pPr lvl="2"/>
            <a:endParaRPr lang="pt-BR" dirty="0"/>
          </a:p>
          <a:p>
            <a:pPr lvl="2"/>
            <a:endParaRPr lang="pt-BR" dirty="0"/>
          </a:p>
          <a:p>
            <a:pPr lvl="2"/>
            <a:endParaRPr lang="pt-BR" dirty="0"/>
          </a:p>
          <a:p>
            <a:pPr lvl="2"/>
            <a:r>
              <a:rPr lang="pt-BR" dirty="0"/>
              <a:t>Crie um consulta que concatene (junte) o campo</a:t>
            </a:r>
            <a:r>
              <a:rPr lang="pt-BR" b="1" dirty="0"/>
              <a:t> nome </a:t>
            </a:r>
            <a:r>
              <a:rPr lang="pt-BR" dirty="0"/>
              <a:t>com o campo descrição (deverá ter no máximo 80 caracteres e três pontinhos no final “...” indicando que possui mais texto).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C38DC83E-F48B-453A-859F-7D2ADB4884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47850" y="2948948"/>
            <a:ext cx="8206674" cy="24451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04085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>
            <a:extLst>
              <a:ext uri="{FF2B5EF4-FFF2-40B4-BE49-F238E27FC236}">
                <a16:creationId xmlns:a16="http://schemas.microsoft.com/office/drawing/2014/main" id="{C9ED2857-C14F-4FB0-8DEF-459FCE0591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4224" y="2503746"/>
            <a:ext cx="11923552" cy="18505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581939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>
            <a:extLst>
              <a:ext uri="{FF2B5EF4-FFF2-40B4-BE49-F238E27FC236}">
                <a16:creationId xmlns:a16="http://schemas.microsoft.com/office/drawing/2014/main" id="{9039FB94-2D53-44A0-8651-E03EB8FF9E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7307" y="2088860"/>
            <a:ext cx="11569247" cy="26509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9106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4D01F40-B466-4939-870D-0BA762ECEF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9544" y="457405"/>
            <a:ext cx="10515600" cy="423440"/>
          </a:xfrm>
        </p:spPr>
        <p:txBody>
          <a:bodyPr>
            <a:normAutofit fontScale="90000"/>
          </a:bodyPr>
          <a:lstStyle/>
          <a:p>
            <a:r>
              <a:rPr lang="pt-BR" sz="3200" dirty="0"/>
              <a:t>Desafio 02: Extraindo a Extensão do Arquivo (O Banner)</a:t>
            </a:r>
            <a:br>
              <a:rPr lang="pt-BR" dirty="0"/>
            </a:br>
            <a:endParaRPr lang="pt-BR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CAB0151E-4FFE-432F-8C8C-28604E0410C2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369544" y="1281117"/>
            <a:ext cx="11452912" cy="25545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Cenário:</a:t>
            </a: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 equipe de </a:t>
            </a:r>
            <a:r>
              <a:rPr kumimoji="0" lang="pt-BR" altLang="pt-BR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frontend</a:t>
            </a: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percebeu que as imagens da coluna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banner</a:t>
            </a: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foram salvas com diferentes formatos (</a:t>
            </a:r>
            <a:r>
              <a:rPr kumimoji="0" lang="pt-BR" altLang="pt-BR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ex</a:t>
            </a: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: </a:t>
            </a: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python_pandas.png</a:t>
            </a: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</a:t>
            </a: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logica_iniciantes.jpg</a:t>
            </a: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</a:t>
            </a:r>
            <a:r>
              <a:rPr kumimoji="0" lang="pt-BR" altLang="pt-BR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django_essentials.webp</a:t>
            </a: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).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 Problema:</a:t>
            </a: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Para otimizar o carregamento na plataforma, o sistema precisa de um relatório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listando o nome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do curso e apenas a </a:t>
            </a:r>
            <a:r>
              <a:rPr kumimoji="0" lang="pt-BR" altLang="pt-BR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extensão</a:t>
            </a: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do arquivo de imagem do banner.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Sua missão:</a:t>
            </a: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Crie uma consulta que retorne o </a:t>
            </a: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nome</a:t>
            </a: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do curso e uma coluna chamada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formato_imagem</a:t>
            </a: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contendo apenas a extensão do arquivo (tudo que vem  </a:t>
            </a:r>
            <a:r>
              <a:rPr kumimoji="0" lang="pt-BR" altLang="pt-BR" sz="20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depois</a:t>
            </a: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do ponto). </a:t>
            </a:r>
          </a:p>
        </p:txBody>
      </p:sp>
    </p:spTree>
    <p:extLst>
      <p:ext uri="{BB962C8B-B14F-4D97-AF65-F5344CB8AC3E}">
        <p14:creationId xmlns:p14="http://schemas.microsoft.com/office/powerpoint/2010/main" val="261263732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CDC5B203-A003-4FF5-A90C-54AB87BAA3A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7170" y="1821969"/>
            <a:ext cx="9982092" cy="184665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Exemplo prático de como o banco de dados processa: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 banco de dados vai até a linha do curso "Fundamentos de mecânica" e lê o conteúdo da coluna banner.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Vamos imaginar que o valor lá seja: </a:t>
            </a:r>
            <a:r>
              <a:rPr kumimoji="0" lang="pt-BR" altLang="pt-B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mecanica_capa_oficial.png</a:t>
            </a:r>
            <a:endParaRPr kumimoji="0" lang="pt-BR" altLang="pt-BR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Ele recebe a instrução para procurar o delimitador </a:t>
            </a:r>
            <a:r>
              <a:rPr kumimoji="0" lang="pt-BR" altLang="pt-B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.</a:t>
            </a:r>
            <a:r>
              <a:rPr kumimoji="0" lang="pt-BR" altLang="pt-B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com a posição </a:t>
            </a:r>
            <a:r>
              <a:rPr kumimoji="0" lang="pt-BR" altLang="pt-B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-1</a:t>
            </a:r>
            <a:r>
              <a:rPr kumimoji="0" lang="pt-BR" altLang="pt-B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  <a:endParaRPr kumimoji="0" lang="pt-BR" altLang="pt-BR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Ele vai até o final da palavra (</a:t>
            </a:r>
            <a:r>
              <a:rPr kumimoji="0" lang="pt-BR" altLang="pt-B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g</a:t>
            </a:r>
            <a:r>
              <a:rPr kumimoji="0" lang="pt-BR" altLang="pt-B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</a:t>
            </a:r>
            <a:r>
              <a:rPr kumimoji="0" lang="pt-BR" altLang="pt-B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n</a:t>
            </a:r>
            <a:r>
              <a:rPr kumimoji="0" lang="pt-BR" altLang="pt-B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</a:t>
            </a:r>
            <a:r>
              <a:rPr kumimoji="0" lang="pt-BR" altLang="pt-B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p</a:t>
            </a:r>
            <a:r>
              <a:rPr kumimoji="0" lang="pt-BR" altLang="pt-B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...) e para ao encontrar o ponto.</a:t>
            </a:r>
            <a:endParaRPr kumimoji="0" lang="pt-BR" altLang="pt-BR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Ele corta o texto ali e devolve apenas o bloco que isolou no final: </a:t>
            </a:r>
            <a:r>
              <a:rPr kumimoji="0" lang="pt-BR" altLang="pt-BR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png</a:t>
            </a:r>
            <a:endParaRPr kumimoji="0" lang="pt-BR" altLang="pt-BR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pt-BR" altLang="pt-B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4131453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>
            <a:extLst>
              <a:ext uri="{FF2B5EF4-FFF2-40B4-BE49-F238E27FC236}">
                <a16:creationId xmlns:a16="http://schemas.microsoft.com/office/drawing/2014/main" id="{7F1D2FEA-C462-403A-B512-B3B47F1A2F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9112" y="316947"/>
            <a:ext cx="11153775" cy="3371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256901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DCC38A9-0A26-4C6E-904A-55C8F70A85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b="1" dirty="0"/>
              <a:t>Desafio SQL – 03 </a:t>
            </a:r>
            <a:r>
              <a:rPr lang="pt-BR" b="1" dirty="0">
                <a:solidFill>
                  <a:srgbClr val="FF0000"/>
                </a:solidFill>
              </a:rPr>
              <a:t>(DDL)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0970A9A-27BB-4949-9DD5-704704E167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Primeiro dê um </a:t>
            </a:r>
            <a:r>
              <a:rPr lang="pt-BR" dirty="0" err="1"/>
              <a:t>describe</a:t>
            </a:r>
            <a:r>
              <a:rPr lang="pt-BR" dirty="0"/>
              <a:t> na tabela curso.</a:t>
            </a:r>
          </a:p>
          <a:p>
            <a:r>
              <a:rPr lang="pt-BR" dirty="0"/>
              <a:t>ALTER TABLE</a:t>
            </a:r>
          </a:p>
          <a:p>
            <a:pPr lvl="1"/>
            <a:r>
              <a:rPr lang="pt-BR" dirty="0"/>
              <a:t>Modificar o campo banner para NULL</a:t>
            </a:r>
          </a:p>
          <a:p>
            <a:pPr lvl="1"/>
            <a:r>
              <a:rPr lang="pt-BR" dirty="0" err="1"/>
              <a:t>Fk_área_id</a:t>
            </a:r>
            <a:r>
              <a:rPr lang="pt-BR" dirty="0"/>
              <a:t> – NOT NULL</a:t>
            </a:r>
          </a:p>
          <a:p>
            <a:pPr lvl="1"/>
            <a:r>
              <a:rPr lang="pt-BR" dirty="0" err="1"/>
              <a:t>Fk_categoria_id</a:t>
            </a:r>
            <a:r>
              <a:rPr lang="pt-BR" dirty="0"/>
              <a:t> – NOT NULL</a:t>
            </a:r>
          </a:p>
          <a:p>
            <a:endParaRPr lang="pt-BR" dirty="0"/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CB1526E8-83D0-4D62-B02A-BBB0852DFD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23178" y="2634143"/>
            <a:ext cx="5568822" cy="34057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036643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>
            <a:extLst>
              <a:ext uri="{FF2B5EF4-FFF2-40B4-BE49-F238E27FC236}">
                <a16:creationId xmlns:a16="http://schemas.microsoft.com/office/drawing/2014/main" id="{69EFB589-8313-4B1A-81E9-FF7521684E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24100" y="890587"/>
            <a:ext cx="7543800" cy="5076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624273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>
            <a:extLst>
              <a:ext uri="{FF2B5EF4-FFF2-40B4-BE49-F238E27FC236}">
                <a16:creationId xmlns:a16="http://schemas.microsoft.com/office/drawing/2014/main" id="{297E5119-F0DD-4AD4-8AF2-D9F55A2FF5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5762" y="1733550"/>
            <a:ext cx="11420475" cy="3390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52320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BCE4FB6-FFFF-4EE7-8FBC-0312050142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Desafio 04 – </a:t>
            </a:r>
            <a:r>
              <a:rPr lang="pt-BR" dirty="0" err="1"/>
              <a:t>Trim</a:t>
            </a:r>
            <a:r>
              <a:rPr lang="pt-BR" dirty="0"/>
              <a:t>( )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579C461-7045-45C8-8749-00DA7ECEE2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81009"/>
            <a:ext cx="10515600" cy="4351338"/>
          </a:xfrm>
        </p:spPr>
        <p:txBody>
          <a:bodyPr/>
          <a:lstStyle/>
          <a:p>
            <a:r>
              <a:rPr lang="pt-BR" dirty="0"/>
              <a:t>Vamos realizar 3 INSERTS com espaço sujo...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66FF89D0-6038-4B1D-BECB-A5729BC9CE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4034" y="1806983"/>
            <a:ext cx="9490745" cy="2082692"/>
          </a:xfrm>
          <a:prstGeom prst="rect">
            <a:avLst/>
          </a:prstGeom>
        </p:spPr>
      </p:pic>
      <p:sp>
        <p:nvSpPr>
          <p:cNvPr id="5" name="CaixaDeTexto 4">
            <a:extLst>
              <a:ext uri="{FF2B5EF4-FFF2-40B4-BE49-F238E27FC236}">
                <a16:creationId xmlns:a16="http://schemas.microsoft.com/office/drawing/2014/main" id="{559D5022-58E3-4A7C-AAA8-66171293F06E}"/>
              </a:ext>
            </a:extLst>
          </p:cNvPr>
          <p:cNvSpPr txBox="1"/>
          <p:nvPr/>
        </p:nvSpPr>
        <p:spPr>
          <a:xfrm>
            <a:off x="964034" y="4072347"/>
            <a:ext cx="7846828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CRIE UM SELECT que mostre os seguintes resultados na consulta do campo nome:</a:t>
            </a:r>
          </a:p>
          <a:p>
            <a:r>
              <a:rPr lang="pt-BR" dirty="0"/>
              <a:t>Mostre o campo nome original</a:t>
            </a:r>
          </a:p>
          <a:p>
            <a:r>
              <a:rPr lang="pt-BR" dirty="0"/>
              <a:t>Mostre quantos caracteres ele possui</a:t>
            </a:r>
          </a:p>
          <a:p>
            <a:r>
              <a:rPr lang="pt-BR" dirty="0"/>
              <a:t>Mostre o campo nome limpo</a:t>
            </a:r>
          </a:p>
          <a:p>
            <a:r>
              <a:rPr lang="pt-BR" dirty="0"/>
              <a:t>Mostre quantos caracteres ele possui limpo.</a:t>
            </a:r>
          </a:p>
        </p:txBody>
      </p:sp>
    </p:spTree>
    <p:extLst>
      <p:ext uri="{BB962C8B-B14F-4D97-AF65-F5344CB8AC3E}">
        <p14:creationId xmlns:p14="http://schemas.microsoft.com/office/powerpoint/2010/main" val="227790408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>
            <a:extLst>
              <a:ext uri="{FF2B5EF4-FFF2-40B4-BE49-F238E27FC236}">
                <a16:creationId xmlns:a16="http://schemas.microsoft.com/office/drawing/2014/main" id="{A98DAF30-6C88-4F5A-9BA3-E9C8F4F58B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1000" y="176169"/>
            <a:ext cx="10496053" cy="64846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619234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>
            <a:extLst>
              <a:ext uri="{FF2B5EF4-FFF2-40B4-BE49-F238E27FC236}">
                <a16:creationId xmlns:a16="http://schemas.microsoft.com/office/drawing/2014/main" id="{507EC77E-3B03-4D89-81E7-AD1118F496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7617" y="679508"/>
            <a:ext cx="11589805" cy="54025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932704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>
            <a:extLst>
              <a:ext uri="{FF2B5EF4-FFF2-40B4-BE49-F238E27FC236}">
                <a16:creationId xmlns:a16="http://schemas.microsoft.com/office/drawing/2014/main" id="{75534032-0809-4D05-83B2-E052C296AC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871133"/>
            <a:ext cx="12192000" cy="31157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925380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2EBE049-1CEE-4413-B451-605CBEC5DE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Desafio 05 – </a:t>
            </a:r>
            <a:r>
              <a:rPr lang="pt-BR" dirty="0" err="1"/>
              <a:t>Trim</a:t>
            </a:r>
            <a:r>
              <a:rPr lang="pt-BR" dirty="0"/>
              <a:t>( )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807613D7-7328-49A3-B03A-794862BBC3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Criar uma solução de ETL que limpe TODOS os espaços vazios.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D5124C47-08E6-48E5-AA85-530E350D33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90537" y="2311341"/>
            <a:ext cx="7186351" cy="2513857"/>
          </a:xfrm>
          <a:prstGeom prst="rect">
            <a:avLst/>
          </a:prstGeom>
        </p:spPr>
      </p:pic>
      <p:sp>
        <p:nvSpPr>
          <p:cNvPr id="5" name="Retângulo 4">
            <a:extLst>
              <a:ext uri="{FF2B5EF4-FFF2-40B4-BE49-F238E27FC236}">
                <a16:creationId xmlns:a16="http://schemas.microsoft.com/office/drawing/2014/main" id="{6B8FCEB0-D11D-4359-B44D-DE03783F5F40}"/>
              </a:ext>
            </a:extLst>
          </p:cNvPr>
          <p:cNvSpPr/>
          <p:nvPr/>
        </p:nvSpPr>
        <p:spPr>
          <a:xfrm>
            <a:off x="5629683" y="643185"/>
            <a:ext cx="4568687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4400" b="1" dirty="0">
                <a:highlight>
                  <a:srgbClr val="FFFF00"/>
                </a:highlight>
              </a:rPr>
              <a:t>Expressão Regular </a:t>
            </a:r>
          </a:p>
        </p:txBody>
      </p:sp>
    </p:spTree>
    <p:extLst>
      <p:ext uri="{BB962C8B-B14F-4D97-AF65-F5344CB8AC3E}">
        <p14:creationId xmlns:p14="http://schemas.microsoft.com/office/powerpoint/2010/main" val="36533568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>
            <a:extLst>
              <a:ext uri="{FF2B5EF4-FFF2-40B4-BE49-F238E27FC236}">
                <a16:creationId xmlns:a16="http://schemas.microsoft.com/office/drawing/2014/main" id="{98DE7ED6-D475-4614-8C9F-17FA4846B3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6745" y="790662"/>
            <a:ext cx="11601288" cy="5276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67972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>
            <a:extLst>
              <a:ext uri="{FF2B5EF4-FFF2-40B4-BE49-F238E27FC236}">
                <a16:creationId xmlns:a16="http://schemas.microsoft.com/office/drawing/2014/main" id="{3D34DBEB-B428-4488-9E15-ABC5811DC6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513" y="989900"/>
            <a:ext cx="3313875" cy="4240023"/>
          </a:xfrm>
          <a:prstGeom prst="rect">
            <a:avLst/>
          </a:prstGeom>
        </p:spPr>
      </p:pic>
      <p:pic>
        <p:nvPicPr>
          <p:cNvPr id="3" name="Imagem 2">
            <a:extLst>
              <a:ext uri="{FF2B5EF4-FFF2-40B4-BE49-F238E27FC236}">
                <a16:creationId xmlns:a16="http://schemas.microsoft.com/office/drawing/2014/main" id="{054E514D-D09A-4D50-BC1B-FADF1B39BB1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25326" y="219075"/>
            <a:ext cx="6886575" cy="6419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711380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9124D92-2E71-41B3-9CD3-69E1E0C550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8360" y="214516"/>
            <a:ext cx="6325998" cy="557664"/>
          </a:xfrm>
        </p:spPr>
        <p:txBody>
          <a:bodyPr>
            <a:normAutofit fontScale="90000"/>
          </a:bodyPr>
          <a:lstStyle/>
          <a:p>
            <a:r>
              <a:rPr lang="pt-BR" dirty="0"/>
              <a:t>Desafio 06 – Data e Hora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63CA41F-7BAC-4950-ABCB-B3BBAEF582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772180"/>
            <a:ext cx="10515600" cy="4351338"/>
          </a:xfrm>
        </p:spPr>
        <p:txBody>
          <a:bodyPr/>
          <a:lstStyle/>
          <a:p>
            <a:r>
              <a:rPr lang="pt-BR" dirty="0"/>
              <a:t>A escola </a:t>
            </a:r>
            <a:r>
              <a:rPr lang="pt-BR" dirty="0" err="1"/>
              <a:t>TicTech</a:t>
            </a:r>
            <a:r>
              <a:rPr lang="pt-BR" dirty="0"/>
              <a:t> necessita criar turmas, porém, </a:t>
            </a:r>
            <a:r>
              <a:rPr lang="pt-BR" b="1" dirty="0">
                <a:highlight>
                  <a:srgbClr val="FFFF00"/>
                </a:highlight>
              </a:rPr>
              <a:t>NÃO PODE cadastrar uma mesma turma, no mesmo curso , na mesma data , no mesmo horário.</a:t>
            </a:r>
          </a:p>
          <a:p>
            <a:r>
              <a:rPr lang="pt-BR" b="1" dirty="0">
                <a:highlight>
                  <a:srgbClr val="FFFF00"/>
                </a:highlight>
              </a:rPr>
              <a:t>RESOLVA ESSE PROBLEMA!!!!!!!!!!!!!!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0EB82074-4695-4A81-BD70-1B21EA0570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8360" y="2412352"/>
            <a:ext cx="6715125" cy="2362200"/>
          </a:xfrm>
          <a:prstGeom prst="rect">
            <a:avLst/>
          </a:prstGeom>
        </p:spPr>
      </p:pic>
      <p:pic>
        <p:nvPicPr>
          <p:cNvPr id="5" name="Imagem 4">
            <a:extLst>
              <a:ext uri="{FF2B5EF4-FFF2-40B4-BE49-F238E27FC236}">
                <a16:creationId xmlns:a16="http://schemas.microsoft.com/office/drawing/2014/main" id="{95C60EF4-7E1C-4357-9226-0E0251E1DF0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6923" y="4709632"/>
            <a:ext cx="9334500" cy="1943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367846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>
            <a:extLst>
              <a:ext uri="{FF2B5EF4-FFF2-40B4-BE49-F238E27FC236}">
                <a16:creationId xmlns:a16="http://schemas.microsoft.com/office/drawing/2014/main" id="{1943AA46-2664-484B-BFD1-D5D38F5DE3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675" y="2176462"/>
            <a:ext cx="12058650" cy="2505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941498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8D0DB0C-2651-4145-80AB-F7F62F382F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TRIGGERS (gatilhos)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CF6EACA4-D4A7-4D09-94BB-2191339D54D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642796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C7FD886-D913-4FCF-A922-C463E37B6E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b="1" dirty="0"/>
              <a:t>SQL Avançado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C186539-3899-459C-9B14-9EA3E15DB3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JOINS</a:t>
            </a:r>
          </a:p>
          <a:p>
            <a:r>
              <a:rPr lang="pt-BR" dirty="0"/>
              <a:t>VIEWS</a:t>
            </a:r>
          </a:p>
          <a:p>
            <a:r>
              <a:rPr lang="pt-BR" b="1" dirty="0"/>
              <a:t>PROCEDURES</a:t>
            </a:r>
          </a:p>
          <a:p>
            <a:r>
              <a:rPr lang="pt-BR" b="1" dirty="0"/>
              <a:t>TRIGGERS</a:t>
            </a:r>
          </a:p>
          <a:p>
            <a:r>
              <a:rPr lang="pt-BR" dirty="0"/>
              <a:t>FUNCTIONS</a:t>
            </a:r>
          </a:p>
        </p:txBody>
      </p:sp>
    </p:spTree>
    <p:extLst>
      <p:ext uri="{BB962C8B-B14F-4D97-AF65-F5344CB8AC3E}">
        <p14:creationId xmlns:p14="http://schemas.microsoft.com/office/powerpoint/2010/main" val="411849356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6C2AE91-F615-4623-AC61-2898CA7111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VIEWS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F30364B-DA8A-4286-B8B3-83F2F19DED6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Visualizações de tabelas temporárias</a:t>
            </a:r>
          </a:p>
          <a:p>
            <a:r>
              <a:rPr lang="pt-BR" b="1" dirty="0"/>
              <a:t>SELECT FROM tabela1 </a:t>
            </a:r>
          </a:p>
          <a:p>
            <a:r>
              <a:rPr lang="pt-BR" b="1" dirty="0"/>
              <a:t>                   JOIN tabela2 </a:t>
            </a:r>
          </a:p>
          <a:p>
            <a:r>
              <a:rPr lang="pt-BR" b="1" dirty="0"/>
              <a:t>                   JOIN tabela3 </a:t>
            </a:r>
          </a:p>
          <a:p>
            <a:r>
              <a:rPr lang="pt-BR" b="1" dirty="0"/>
              <a:t>                   JOIN tabela4 WHERE idfk_tabela1 = id.tabela1 </a:t>
            </a:r>
          </a:p>
        </p:txBody>
      </p:sp>
    </p:spTree>
    <p:extLst>
      <p:ext uri="{BB962C8B-B14F-4D97-AF65-F5344CB8AC3E}">
        <p14:creationId xmlns:p14="http://schemas.microsoft.com/office/powerpoint/2010/main" val="79573314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>
            <a:extLst>
              <a:ext uri="{FF2B5EF4-FFF2-40B4-BE49-F238E27FC236}">
                <a16:creationId xmlns:a16="http://schemas.microsoft.com/office/drawing/2014/main" id="{0D56B56F-FC4B-40D4-9FAE-F4FA46CF63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9391" y="221501"/>
            <a:ext cx="7399090" cy="65759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434207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>
            <a:extLst>
              <a:ext uri="{FF2B5EF4-FFF2-40B4-BE49-F238E27FC236}">
                <a16:creationId xmlns:a16="http://schemas.microsoft.com/office/drawing/2014/main" id="{2FA99630-AEA8-4B5A-942E-2769654931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83192" y="-186656"/>
            <a:ext cx="7641998" cy="3657601"/>
          </a:xfrm>
          <a:prstGeom prst="rect">
            <a:avLst/>
          </a:prstGeom>
        </p:spPr>
      </p:pic>
      <p:pic>
        <p:nvPicPr>
          <p:cNvPr id="3" name="Imagem 2">
            <a:extLst>
              <a:ext uri="{FF2B5EF4-FFF2-40B4-BE49-F238E27FC236}">
                <a16:creationId xmlns:a16="http://schemas.microsoft.com/office/drawing/2014/main" id="{B4E2BAD0-A348-4F05-9C3A-00EF5F5D922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429000"/>
            <a:ext cx="12192000" cy="2545102"/>
          </a:xfrm>
          <a:prstGeom prst="rect">
            <a:avLst/>
          </a:prstGeom>
        </p:spPr>
      </p:pic>
      <p:sp>
        <p:nvSpPr>
          <p:cNvPr id="5" name="Forma Livre: Forma 4">
            <a:extLst>
              <a:ext uri="{FF2B5EF4-FFF2-40B4-BE49-F238E27FC236}">
                <a16:creationId xmlns:a16="http://schemas.microsoft.com/office/drawing/2014/main" id="{96A32070-F888-4CC3-A07A-CCA065FBF347}"/>
              </a:ext>
            </a:extLst>
          </p:cNvPr>
          <p:cNvSpPr/>
          <p:nvPr/>
        </p:nvSpPr>
        <p:spPr>
          <a:xfrm>
            <a:off x="7600426" y="3094660"/>
            <a:ext cx="864391" cy="126712"/>
          </a:xfrm>
          <a:custGeom>
            <a:avLst/>
            <a:gdLst>
              <a:gd name="connsiteX0" fmla="*/ 0 w 864391"/>
              <a:gd name="connsiteY0" fmla="*/ 26045 h 126712"/>
              <a:gd name="connsiteX1" fmla="*/ 67112 w 864391"/>
              <a:gd name="connsiteY1" fmla="*/ 42823 h 126712"/>
              <a:gd name="connsiteX2" fmla="*/ 92279 w 864391"/>
              <a:gd name="connsiteY2" fmla="*/ 59601 h 126712"/>
              <a:gd name="connsiteX3" fmla="*/ 151002 w 864391"/>
              <a:gd name="connsiteY3" fmla="*/ 84768 h 126712"/>
              <a:gd name="connsiteX4" fmla="*/ 176168 w 864391"/>
              <a:gd name="connsiteY4" fmla="*/ 101546 h 126712"/>
              <a:gd name="connsiteX5" fmla="*/ 218113 w 864391"/>
              <a:gd name="connsiteY5" fmla="*/ 109934 h 126712"/>
              <a:gd name="connsiteX6" fmla="*/ 243280 w 864391"/>
              <a:gd name="connsiteY6" fmla="*/ 118323 h 126712"/>
              <a:gd name="connsiteX7" fmla="*/ 377504 w 864391"/>
              <a:gd name="connsiteY7" fmla="*/ 126712 h 126712"/>
              <a:gd name="connsiteX8" fmla="*/ 637563 w 864391"/>
              <a:gd name="connsiteY8" fmla="*/ 118323 h 126712"/>
              <a:gd name="connsiteX9" fmla="*/ 662730 w 864391"/>
              <a:gd name="connsiteY9" fmla="*/ 109934 h 126712"/>
              <a:gd name="connsiteX10" fmla="*/ 687897 w 864391"/>
              <a:gd name="connsiteY10" fmla="*/ 93157 h 126712"/>
              <a:gd name="connsiteX11" fmla="*/ 713064 w 864391"/>
              <a:gd name="connsiteY11" fmla="*/ 84768 h 126712"/>
              <a:gd name="connsiteX12" fmla="*/ 738231 w 864391"/>
              <a:gd name="connsiteY12" fmla="*/ 67990 h 126712"/>
              <a:gd name="connsiteX13" fmla="*/ 763398 w 864391"/>
              <a:gd name="connsiteY13" fmla="*/ 59601 h 126712"/>
              <a:gd name="connsiteX14" fmla="*/ 813732 w 864391"/>
              <a:gd name="connsiteY14" fmla="*/ 26045 h 126712"/>
              <a:gd name="connsiteX15" fmla="*/ 864066 w 864391"/>
              <a:gd name="connsiteY15" fmla="*/ 878 h 126712"/>
              <a:gd name="connsiteX16" fmla="*/ 855677 w 864391"/>
              <a:gd name="connsiteY16" fmla="*/ 878 h 1267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864391" h="126712">
                <a:moveTo>
                  <a:pt x="0" y="26045"/>
                </a:moveTo>
                <a:cubicBezTo>
                  <a:pt x="15954" y="29236"/>
                  <a:pt x="49915" y="34224"/>
                  <a:pt x="67112" y="42823"/>
                </a:cubicBezTo>
                <a:cubicBezTo>
                  <a:pt x="76130" y="47332"/>
                  <a:pt x="83261" y="55092"/>
                  <a:pt x="92279" y="59601"/>
                </a:cubicBezTo>
                <a:cubicBezTo>
                  <a:pt x="186383" y="106653"/>
                  <a:pt x="28823" y="14950"/>
                  <a:pt x="151002" y="84768"/>
                </a:cubicBezTo>
                <a:cubicBezTo>
                  <a:pt x="159756" y="89770"/>
                  <a:pt x="166728" y="98006"/>
                  <a:pt x="176168" y="101546"/>
                </a:cubicBezTo>
                <a:cubicBezTo>
                  <a:pt x="189519" y="106552"/>
                  <a:pt x="204280" y="106476"/>
                  <a:pt x="218113" y="109934"/>
                </a:cubicBezTo>
                <a:cubicBezTo>
                  <a:pt x="226692" y="112079"/>
                  <a:pt x="234486" y="117397"/>
                  <a:pt x="243280" y="118323"/>
                </a:cubicBezTo>
                <a:cubicBezTo>
                  <a:pt x="287862" y="123016"/>
                  <a:pt x="332763" y="123916"/>
                  <a:pt x="377504" y="126712"/>
                </a:cubicBezTo>
                <a:cubicBezTo>
                  <a:pt x="464190" y="123916"/>
                  <a:pt x="550981" y="123416"/>
                  <a:pt x="637563" y="118323"/>
                </a:cubicBezTo>
                <a:cubicBezTo>
                  <a:pt x="646391" y="117804"/>
                  <a:pt x="654821" y="113888"/>
                  <a:pt x="662730" y="109934"/>
                </a:cubicBezTo>
                <a:cubicBezTo>
                  <a:pt x="671748" y="105425"/>
                  <a:pt x="678879" y="97666"/>
                  <a:pt x="687897" y="93157"/>
                </a:cubicBezTo>
                <a:cubicBezTo>
                  <a:pt x="695806" y="89203"/>
                  <a:pt x="705155" y="88723"/>
                  <a:pt x="713064" y="84768"/>
                </a:cubicBezTo>
                <a:cubicBezTo>
                  <a:pt x="722082" y="80259"/>
                  <a:pt x="729213" y="72499"/>
                  <a:pt x="738231" y="67990"/>
                </a:cubicBezTo>
                <a:cubicBezTo>
                  <a:pt x="746140" y="64035"/>
                  <a:pt x="755668" y="63895"/>
                  <a:pt x="763398" y="59601"/>
                </a:cubicBezTo>
                <a:cubicBezTo>
                  <a:pt x="781025" y="49808"/>
                  <a:pt x="794602" y="32422"/>
                  <a:pt x="813732" y="26045"/>
                </a:cubicBezTo>
                <a:cubicBezTo>
                  <a:pt x="834201" y="19222"/>
                  <a:pt x="847804" y="17140"/>
                  <a:pt x="864066" y="878"/>
                </a:cubicBezTo>
                <a:cubicBezTo>
                  <a:pt x="866043" y="-1099"/>
                  <a:pt x="858473" y="878"/>
                  <a:pt x="855677" y="878"/>
                </a:cubicBezTo>
              </a:path>
            </a:pathLst>
          </a:cu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" name="Forma Livre: Forma 5">
            <a:extLst>
              <a:ext uri="{FF2B5EF4-FFF2-40B4-BE49-F238E27FC236}">
                <a16:creationId xmlns:a16="http://schemas.microsoft.com/office/drawing/2014/main" id="{B9968BE9-231F-4430-B6BA-6DB19AD86BA6}"/>
              </a:ext>
            </a:extLst>
          </p:cNvPr>
          <p:cNvSpPr/>
          <p:nvPr/>
        </p:nvSpPr>
        <p:spPr>
          <a:xfrm>
            <a:off x="5818285" y="3263317"/>
            <a:ext cx="2176423" cy="562063"/>
          </a:xfrm>
          <a:custGeom>
            <a:avLst/>
            <a:gdLst>
              <a:gd name="connsiteX0" fmla="*/ 2176423 w 2176423"/>
              <a:gd name="connsiteY0" fmla="*/ 0 h 562063"/>
              <a:gd name="connsiteX1" fmla="*/ 2151256 w 2176423"/>
              <a:gd name="connsiteY1" fmla="*/ 41945 h 562063"/>
              <a:gd name="connsiteX2" fmla="*/ 2126089 w 2176423"/>
              <a:gd name="connsiteY2" fmla="*/ 50334 h 562063"/>
              <a:gd name="connsiteX3" fmla="*/ 2100922 w 2176423"/>
              <a:gd name="connsiteY3" fmla="*/ 75501 h 562063"/>
              <a:gd name="connsiteX4" fmla="*/ 2075755 w 2176423"/>
              <a:gd name="connsiteY4" fmla="*/ 83890 h 562063"/>
              <a:gd name="connsiteX5" fmla="*/ 2050588 w 2176423"/>
              <a:gd name="connsiteY5" fmla="*/ 100668 h 562063"/>
              <a:gd name="connsiteX6" fmla="*/ 1991865 w 2176423"/>
              <a:gd name="connsiteY6" fmla="*/ 117446 h 562063"/>
              <a:gd name="connsiteX7" fmla="*/ 960020 w 2176423"/>
              <a:gd name="connsiteY7" fmla="*/ 125835 h 562063"/>
              <a:gd name="connsiteX8" fmla="*/ 892908 w 2176423"/>
              <a:gd name="connsiteY8" fmla="*/ 151002 h 562063"/>
              <a:gd name="connsiteX9" fmla="*/ 884519 w 2176423"/>
              <a:gd name="connsiteY9" fmla="*/ 176169 h 562063"/>
              <a:gd name="connsiteX10" fmla="*/ 909686 w 2176423"/>
              <a:gd name="connsiteY10" fmla="*/ 226503 h 562063"/>
              <a:gd name="connsiteX11" fmla="*/ 809018 w 2176423"/>
              <a:gd name="connsiteY11" fmla="*/ 251670 h 562063"/>
              <a:gd name="connsiteX12" fmla="*/ 196621 w 2176423"/>
              <a:gd name="connsiteY12" fmla="*/ 268448 h 562063"/>
              <a:gd name="connsiteX13" fmla="*/ 87565 w 2176423"/>
              <a:gd name="connsiteY13" fmla="*/ 285226 h 562063"/>
              <a:gd name="connsiteX14" fmla="*/ 62398 w 2176423"/>
              <a:gd name="connsiteY14" fmla="*/ 293615 h 562063"/>
              <a:gd name="connsiteX15" fmla="*/ 28842 w 2176423"/>
              <a:gd name="connsiteY15" fmla="*/ 302004 h 562063"/>
              <a:gd name="connsiteX16" fmla="*/ 3675 w 2176423"/>
              <a:gd name="connsiteY16" fmla="*/ 327171 h 562063"/>
              <a:gd name="connsiteX17" fmla="*/ 37231 w 2176423"/>
              <a:gd name="connsiteY17" fmla="*/ 411061 h 562063"/>
              <a:gd name="connsiteX18" fmla="*/ 62398 w 2176423"/>
              <a:gd name="connsiteY18" fmla="*/ 419450 h 562063"/>
              <a:gd name="connsiteX19" fmla="*/ 87565 w 2176423"/>
              <a:gd name="connsiteY19" fmla="*/ 469784 h 562063"/>
              <a:gd name="connsiteX20" fmla="*/ 188232 w 2176423"/>
              <a:gd name="connsiteY20" fmla="*/ 520118 h 562063"/>
              <a:gd name="connsiteX21" fmla="*/ 213399 w 2176423"/>
              <a:gd name="connsiteY21" fmla="*/ 528507 h 562063"/>
              <a:gd name="connsiteX22" fmla="*/ 280511 w 2176423"/>
              <a:gd name="connsiteY22" fmla="*/ 536896 h 562063"/>
              <a:gd name="connsiteX23" fmla="*/ 339234 w 2176423"/>
              <a:gd name="connsiteY23" fmla="*/ 545285 h 562063"/>
              <a:gd name="connsiteX24" fmla="*/ 532181 w 2176423"/>
              <a:gd name="connsiteY24" fmla="*/ 553674 h 562063"/>
              <a:gd name="connsiteX25" fmla="*/ 783851 w 2176423"/>
              <a:gd name="connsiteY25" fmla="*/ 562063 h 562063"/>
              <a:gd name="connsiteX26" fmla="*/ 1203300 w 2176423"/>
              <a:gd name="connsiteY26" fmla="*/ 553674 h 562063"/>
              <a:gd name="connsiteX27" fmla="*/ 1572416 w 2176423"/>
              <a:gd name="connsiteY27" fmla="*/ 536896 h 562063"/>
              <a:gd name="connsiteX28" fmla="*/ 1614361 w 2176423"/>
              <a:gd name="connsiteY28" fmla="*/ 528507 h 562063"/>
              <a:gd name="connsiteX29" fmla="*/ 1673084 w 2176423"/>
              <a:gd name="connsiteY29" fmla="*/ 511729 h 562063"/>
              <a:gd name="connsiteX30" fmla="*/ 1706640 w 2176423"/>
              <a:gd name="connsiteY30" fmla="*/ 494951 h 562063"/>
              <a:gd name="connsiteX31" fmla="*/ 1765363 w 2176423"/>
              <a:gd name="connsiteY31" fmla="*/ 478173 h 562063"/>
              <a:gd name="connsiteX32" fmla="*/ 1790530 w 2176423"/>
              <a:gd name="connsiteY32" fmla="*/ 453006 h 562063"/>
              <a:gd name="connsiteX33" fmla="*/ 1782141 w 2176423"/>
              <a:gd name="connsiteY33" fmla="*/ 419450 h 562063"/>
              <a:gd name="connsiteX34" fmla="*/ 1740196 w 2176423"/>
              <a:gd name="connsiteY34" fmla="*/ 343949 h 562063"/>
              <a:gd name="connsiteX35" fmla="*/ 1715029 w 2176423"/>
              <a:gd name="connsiteY35" fmla="*/ 335560 h 562063"/>
              <a:gd name="connsiteX36" fmla="*/ 1664695 w 2176423"/>
              <a:gd name="connsiteY36" fmla="*/ 302004 h 562063"/>
              <a:gd name="connsiteX37" fmla="*/ 1555638 w 2176423"/>
              <a:gd name="connsiteY37" fmla="*/ 276837 h 562063"/>
              <a:gd name="connsiteX38" fmla="*/ 1438192 w 2176423"/>
              <a:gd name="connsiteY38" fmla="*/ 251670 h 562063"/>
              <a:gd name="connsiteX39" fmla="*/ 691572 w 2176423"/>
              <a:gd name="connsiteY39" fmla="*/ 243281 h 5620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</a:cxnLst>
            <a:rect l="l" t="t" r="r" b="b"/>
            <a:pathLst>
              <a:path w="2176423" h="562063">
                <a:moveTo>
                  <a:pt x="2176423" y="0"/>
                </a:moveTo>
                <a:cubicBezTo>
                  <a:pt x="2168034" y="13982"/>
                  <a:pt x="2162786" y="30415"/>
                  <a:pt x="2151256" y="41945"/>
                </a:cubicBezTo>
                <a:cubicBezTo>
                  <a:pt x="2145003" y="48198"/>
                  <a:pt x="2133447" y="45429"/>
                  <a:pt x="2126089" y="50334"/>
                </a:cubicBezTo>
                <a:cubicBezTo>
                  <a:pt x="2116218" y="56915"/>
                  <a:pt x="2110793" y="68920"/>
                  <a:pt x="2100922" y="75501"/>
                </a:cubicBezTo>
                <a:cubicBezTo>
                  <a:pt x="2093564" y="80406"/>
                  <a:pt x="2083664" y="79935"/>
                  <a:pt x="2075755" y="83890"/>
                </a:cubicBezTo>
                <a:cubicBezTo>
                  <a:pt x="2066737" y="88399"/>
                  <a:pt x="2059606" y="96159"/>
                  <a:pt x="2050588" y="100668"/>
                </a:cubicBezTo>
                <a:cubicBezTo>
                  <a:pt x="2042542" y="104691"/>
                  <a:pt x="1997416" y="117359"/>
                  <a:pt x="1991865" y="117446"/>
                </a:cubicBezTo>
                <a:lnTo>
                  <a:pt x="960020" y="125835"/>
                </a:lnTo>
                <a:cubicBezTo>
                  <a:pt x="937283" y="130382"/>
                  <a:pt x="909366" y="130429"/>
                  <a:pt x="892908" y="151002"/>
                </a:cubicBezTo>
                <a:cubicBezTo>
                  <a:pt x="887384" y="157907"/>
                  <a:pt x="887315" y="167780"/>
                  <a:pt x="884519" y="176169"/>
                </a:cubicBezTo>
                <a:cubicBezTo>
                  <a:pt x="885082" y="177013"/>
                  <a:pt x="916632" y="219557"/>
                  <a:pt x="909686" y="226503"/>
                </a:cubicBezTo>
                <a:cubicBezTo>
                  <a:pt x="898516" y="237673"/>
                  <a:pt x="823611" y="250940"/>
                  <a:pt x="809018" y="251670"/>
                </a:cubicBezTo>
                <a:cubicBezTo>
                  <a:pt x="747985" y="254722"/>
                  <a:pt x="236672" y="267421"/>
                  <a:pt x="196621" y="268448"/>
                </a:cubicBezTo>
                <a:cubicBezTo>
                  <a:pt x="112102" y="289578"/>
                  <a:pt x="232498" y="261070"/>
                  <a:pt x="87565" y="285226"/>
                </a:cubicBezTo>
                <a:cubicBezTo>
                  <a:pt x="78843" y="286680"/>
                  <a:pt x="70901" y="291186"/>
                  <a:pt x="62398" y="293615"/>
                </a:cubicBezTo>
                <a:cubicBezTo>
                  <a:pt x="51312" y="296782"/>
                  <a:pt x="40027" y="299208"/>
                  <a:pt x="28842" y="302004"/>
                </a:cubicBezTo>
                <a:cubicBezTo>
                  <a:pt x="20453" y="310393"/>
                  <a:pt x="5797" y="315499"/>
                  <a:pt x="3675" y="327171"/>
                </a:cubicBezTo>
                <a:cubicBezTo>
                  <a:pt x="-5646" y="378437"/>
                  <a:pt x="1785" y="393338"/>
                  <a:pt x="37231" y="411061"/>
                </a:cubicBezTo>
                <a:cubicBezTo>
                  <a:pt x="45140" y="415016"/>
                  <a:pt x="54009" y="416654"/>
                  <a:pt x="62398" y="419450"/>
                </a:cubicBezTo>
                <a:cubicBezTo>
                  <a:pt x="68382" y="437402"/>
                  <a:pt x="72259" y="456391"/>
                  <a:pt x="87565" y="469784"/>
                </a:cubicBezTo>
                <a:cubicBezTo>
                  <a:pt x="127595" y="504811"/>
                  <a:pt x="140711" y="504278"/>
                  <a:pt x="188232" y="520118"/>
                </a:cubicBezTo>
                <a:cubicBezTo>
                  <a:pt x="196621" y="522914"/>
                  <a:pt x="204625" y="527410"/>
                  <a:pt x="213399" y="528507"/>
                </a:cubicBezTo>
                <a:lnTo>
                  <a:pt x="280511" y="536896"/>
                </a:lnTo>
                <a:cubicBezTo>
                  <a:pt x="300111" y="539509"/>
                  <a:pt x="319505" y="543970"/>
                  <a:pt x="339234" y="545285"/>
                </a:cubicBezTo>
                <a:cubicBezTo>
                  <a:pt x="403468" y="549567"/>
                  <a:pt x="467850" y="551246"/>
                  <a:pt x="532181" y="553674"/>
                </a:cubicBezTo>
                <a:lnTo>
                  <a:pt x="783851" y="562063"/>
                </a:lnTo>
                <a:lnTo>
                  <a:pt x="1203300" y="553674"/>
                </a:lnTo>
                <a:cubicBezTo>
                  <a:pt x="1330978" y="550670"/>
                  <a:pt x="1449063" y="554518"/>
                  <a:pt x="1572416" y="536896"/>
                </a:cubicBezTo>
                <a:cubicBezTo>
                  <a:pt x="1586531" y="534880"/>
                  <a:pt x="1600442" y="531600"/>
                  <a:pt x="1614361" y="528507"/>
                </a:cubicBezTo>
                <a:cubicBezTo>
                  <a:pt x="1629097" y="525232"/>
                  <a:pt x="1657993" y="518197"/>
                  <a:pt x="1673084" y="511729"/>
                </a:cubicBezTo>
                <a:cubicBezTo>
                  <a:pt x="1684578" y="506803"/>
                  <a:pt x="1695146" y="499877"/>
                  <a:pt x="1706640" y="494951"/>
                </a:cubicBezTo>
                <a:cubicBezTo>
                  <a:pt x="1723489" y="487730"/>
                  <a:pt x="1748335" y="482430"/>
                  <a:pt x="1765363" y="478173"/>
                </a:cubicBezTo>
                <a:cubicBezTo>
                  <a:pt x="1773752" y="469784"/>
                  <a:pt x="1787271" y="464413"/>
                  <a:pt x="1790530" y="453006"/>
                </a:cubicBezTo>
                <a:cubicBezTo>
                  <a:pt x="1793697" y="441920"/>
                  <a:pt x="1785454" y="430493"/>
                  <a:pt x="1782141" y="419450"/>
                </a:cubicBezTo>
                <a:cubicBezTo>
                  <a:pt x="1771197" y="382971"/>
                  <a:pt x="1771438" y="364777"/>
                  <a:pt x="1740196" y="343949"/>
                </a:cubicBezTo>
                <a:cubicBezTo>
                  <a:pt x="1732838" y="339044"/>
                  <a:pt x="1722759" y="339854"/>
                  <a:pt x="1715029" y="335560"/>
                </a:cubicBezTo>
                <a:cubicBezTo>
                  <a:pt x="1697402" y="325767"/>
                  <a:pt x="1684258" y="306895"/>
                  <a:pt x="1664695" y="302004"/>
                </a:cubicBezTo>
                <a:cubicBezTo>
                  <a:pt x="1500229" y="260887"/>
                  <a:pt x="1671839" y="302660"/>
                  <a:pt x="1555638" y="276837"/>
                </a:cubicBezTo>
                <a:cubicBezTo>
                  <a:pt x="1506615" y="265943"/>
                  <a:pt x="1503215" y="259798"/>
                  <a:pt x="1438192" y="251670"/>
                </a:cubicBezTo>
                <a:cubicBezTo>
                  <a:pt x="1146326" y="215187"/>
                  <a:pt x="1393625" y="243281"/>
                  <a:pt x="691572" y="243281"/>
                </a:cubicBezTo>
              </a:path>
            </a:pathLst>
          </a:cu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42B01A3C-20F8-4E0E-B88B-7210A44DDD9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50001" y="2535729"/>
            <a:ext cx="7641999" cy="9740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166633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>
            <a:extLst>
              <a:ext uri="{FF2B5EF4-FFF2-40B4-BE49-F238E27FC236}">
                <a16:creationId xmlns:a16="http://schemas.microsoft.com/office/drawing/2014/main" id="{D4803C9F-9578-4141-A601-6F74BF2F65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0142" y="527851"/>
            <a:ext cx="10197517" cy="1468729"/>
          </a:xfrm>
          <a:prstGeom prst="rect">
            <a:avLst/>
          </a:prstGeom>
        </p:spPr>
      </p:pic>
      <p:pic>
        <p:nvPicPr>
          <p:cNvPr id="3" name="Imagem 2">
            <a:extLst>
              <a:ext uri="{FF2B5EF4-FFF2-40B4-BE49-F238E27FC236}">
                <a16:creationId xmlns:a16="http://schemas.microsoft.com/office/drawing/2014/main" id="{0DD742C9-F607-4D9E-81FC-7D45FBECF05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6822" y="5763411"/>
            <a:ext cx="7762875" cy="1133475"/>
          </a:xfrm>
          <a:prstGeom prst="rect">
            <a:avLst/>
          </a:prstGeom>
        </p:spPr>
      </p:pic>
      <p:pic>
        <p:nvPicPr>
          <p:cNvPr id="4" name="Imagem 3">
            <a:extLst>
              <a:ext uri="{FF2B5EF4-FFF2-40B4-BE49-F238E27FC236}">
                <a16:creationId xmlns:a16="http://schemas.microsoft.com/office/drawing/2014/main" id="{3FAAF644-B319-49D7-9EBF-5D91C340648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9033" y="1331054"/>
            <a:ext cx="8029575" cy="381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22884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>
            <a:extLst>
              <a:ext uri="{FF2B5EF4-FFF2-40B4-BE49-F238E27FC236}">
                <a16:creationId xmlns:a16="http://schemas.microsoft.com/office/drawing/2014/main" id="{8DF1E6F5-C03E-4899-98A1-7C01E26365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21747" y="727169"/>
            <a:ext cx="8704164" cy="57910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121350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455C1E2-A087-4D19-B470-CF2F3B4046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err="1"/>
              <a:t>Stored</a:t>
            </a:r>
            <a:r>
              <a:rPr lang="pt-BR" dirty="0"/>
              <a:t> Procedure</a:t>
            </a:r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1ED918D2-6428-4630-945C-61B96B79E1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9245" y="1471438"/>
            <a:ext cx="3849880" cy="2253274"/>
          </a:xfrm>
          <a:prstGeom prst="rect">
            <a:avLst/>
          </a:prstGeom>
        </p:spPr>
      </p:pic>
      <p:pic>
        <p:nvPicPr>
          <p:cNvPr id="4" name="Imagem 3">
            <a:extLst>
              <a:ext uri="{FF2B5EF4-FFF2-40B4-BE49-F238E27FC236}">
                <a16:creationId xmlns:a16="http://schemas.microsoft.com/office/drawing/2014/main" id="{34511B25-4C31-466C-AD02-170874BE099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47839" y="1190625"/>
            <a:ext cx="5019618" cy="25477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978177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>
            <a:extLst>
              <a:ext uri="{FF2B5EF4-FFF2-40B4-BE49-F238E27FC236}">
                <a16:creationId xmlns:a16="http://schemas.microsoft.com/office/drawing/2014/main" id="{54B12342-2681-4C55-B7A1-865D9660F3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835" y="473365"/>
            <a:ext cx="5256056" cy="21691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466371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>
            <a:extLst>
              <a:ext uri="{FF2B5EF4-FFF2-40B4-BE49-F238E27FC236}">
                <a16:creationId xmlns:a16="http://schemas.microsoft.com/office/drawing/2014/main" id="{6FCDC272-E2F1-482C-85BC-60499E7850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8674" y="853099"/>
            <a:ext cx="10077407" cy="47526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592711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>
            <a:extLst>
              <a:ext uri="{FF2B5EF4-FFF2-40B4-BE49-F238E27FC236}">
                <a16:creationId xmlns:a16="http://schemas.microsoft.com/office/drawing/2014/main" id="{E5DD1E00-229D-445F-BFF1-AC32611EF6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88589"/>
            <a:ext cx="9810009" cy="6480821"/>
          </a:xfrm>
          <a:prstGeom prst="rect">
            <a:avLst/>
          </a:prstGeom>
        </p:spPr>
      </p:pic>
      <p:sp>
        <p:nvSpPr>
          <p:cNvPr id="3" name="CaixaDeTexto 2">
            <a:extLst>
              <a:ext uri="{FF2B5EF4-FFF2-40B4-BE49-F238E27FC236}">
                <a16:creationId xmlns:a16="http://schemas.microsoft.com/office/drawing/2014/main" id="{32A78948-85A7-4199-9ABB-D246B0CA953C}"/>
              </a:ext>
            </a:extLst>
          </p:cNvPr>
          <p:cNvSpPr txBox="1"/>
          <p:nvPr/>
        </p:nvSpPr>
        <p:spPr>
          <a:xfrm>
            <a:off x="8917497" y="494950"/>
            <a:ext cx="30139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(</a:t>
            </a:r>
            <a:r>
              <a:rPr lang="pt-BR" b="1" dirty="0"/>
              <a:t>IN </a:t>
            </a:r>
            <a:r>
              <a:rPr lang="pt-BR" b="1" dirty="0" err="1"/>
              <a:t>nome_eixo</a:t>
            </a:r>
            <a:r>
              <a:rPr lang="pt-BR" b="1" dirty="0"/>
              <a:t> VARCHAR(60))</a:t>
            </a: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38ADE437-EB58-46FA-A6A7-8EC253893725}"/>
              </a:ext>
            </a:extLst>
          </p:cNvPr>
          <p:cNvSpPr/>
          <p:nvPr/>
        </p:nvSpPr>
        <p:spPr>
          <a:xfrm>
            <a:off x="5603846" y="816700"/>
            <a:ext cx="6838506" cy="70788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pt-BR" sz="4000" b="1" cap="none" spc="0" dirty="0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</a:rPr>
              <a:t>Parâmetros ou argumentos</a:t>
            </a:r>
          </a:p>
        </p:txBody>
      </p:sp>
    </p:spTree>
    <p:extLst>
      <p:ext uri="{BB962C8B-B14F-4D97-AF65-F5344CB8AC3E}">
        <p14:creationId xmlns:p14="http://schemas.microsoft.com/office/powerpoint/2010/main" val="183202853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DE0F469-E39A-4A28-A74E-5EE407E41A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b="1" dirty="0" err="1">
                <a:highlight>
                  <a:srgbClr val="FFFF00"/>
                </a:highlight>
              </a:rPr>
              <a:t>Stored</a:t>
            </a:r>
            <a:r>
              <a:rPr lang="pt-BR" b="1" dirty="0">
                <a:highlight>
                  <a:srgbClr val="FFFF00"/>
                </a:highlight>
              </a:rPr>
              <a:t> Procedure </a:t>
            </a:r>
            <a:r>
              <a:rPr lang="pt-BR" dirty="0">
                <a:highlight>
                  <a:srgbClr val="FFFF00"/>
                </a:highlight>
              </a:rPr>
              <a:t>ou </a:t>
            </a:r>
            <a:r>
              <a:rPr lang="pt-BR" b="1" dirty="0" err="1">
                <a:highlight>
                  <a:srgbClr val="FFFF00"/>
                </a:highlight>
              </a:rPr>
              <a:t>Functions</a:t>
            </a:r>
            <a:endParaRPr lang="pt-BR" b="1" dirty="0">
              <a:highlight>
                <a:srgbClr val="FFFF00"/>
              </a:highlight>
            </a:endParaRP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6107156E-3D2D-4BD5-B796-0CEA7DE1FCA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b="1" dirty="0"/>
              <a:t>Procedimentos</a:t>
            </a:r>
            <a:r>
              <a:rPr lang="pt-BR" dirty="0"/>
              <a:t> </a:t>
            </a:r>
          </a:p>
          <a:p>
            <a:r>
              <a:rPr lang="pt-BR" dirty="0"/>
              <a:t>F</a:t>
            </a:r>
            <a:r>
              <a:rPr lang="pt-BR" b="1" dirty="0"/>
              <a:t>unções</a:t>
            </a:r>
          </a:p>
          <a:p>
            <a:r>
              <a:rPr lang="pt-BR" b="1" dirty="0"/>
              <a:t>Parâmetros</a:t>
            </a:r>
          </a:p>
          <a:p>
            <a:r>
              <a:rPr lang="pt-BR" dirty="0"/>
              <a:t>Variáveis</a:t>
            </a:r>
          </a:p>
          <a:p>
            <a:r>
              <a:rPr lang="pt-BR" dirty="0"/>
              <a:t>Estruturas de Seleção</a:t>
            </a:r>
          </a:p>
          <a:p>
            <a:r>
              <a:rPr lang="pt-BR" dirty="0"/>
              <a:t>Estruturas de Repetição</a:t>
            </a:r>
          </a:p>
          <a:p>
            <a:r>
              <a:rPr lang="pt-BR" dirty="0"/>
              <a:t>Programação Avançada de ETL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25916979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6DCE591-3077-4836-9C2C-942986042D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Programação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66494375-D98C-4740-B422-AE2A4CC39F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pt-BR" dirty="0"/>
              <a:t>Criar variáveis</a:t>
            </a:r>
          </a:p>
          <a:p>
            <a:r>
              <a:rPr lang="pt-BR" dirty="0"/>
              <a:t>Criar estruturas</a:t>
            </a:r>
          </a:p>
          <a:p>
            <a:pPr lvl="1"/>
            <a:r>
              <a:rPr lang="pt-BR" dirty="0"/>
              <a:t>Estrutura de Seleção</a:t>
            </a:r>
          </a:p>
          <a:p>
            <a:pPr lvl="2"/>
            <a:r>
              <a:rPr lang="pt-BR" dirty="0"/>
              <a:t>SE (condição) ENTÂO</a:t>
            </a:r>
          </a:p>
          <a:p>
            <a:pPr lvl="3"/>
            <a:r>
              <a:rPr lang="pt-BR" dirty="0"/>
              <a:t>SE condição for verdadeira</a:t>
            </a:r>
          </a:p>
          <a:p>
            <a:pPr lvl="2"/>
            <a:r>
              <a:rPr lang="pt-BR" dirty="0"/>
              <a:t>SENAO</a:t>
            </a:r>
          </a:p>
          <a:p>
            <a:pPr lvl="3"/>
            <a:r>
              <a:rPr lang="pt-BR" dirty="0"/>
              <a:t>Se condição for falsa</a:t>
            </a:r>
          </a:p>
          <a:p>
            <a:pPr lvl="1"/>
            <a:r>
              <a:rPr lang="pt-BR" dirty="0"/>
              <a:t>Estrutura de Repetição (</a:t>
            </a:r>
            <a:r>
              <a:rPr lang="pt-BR" b="1" dirty="0"/>
              <a:t>loop</a:t>
            </a:r>
            <a:r>
              <a:rPr lang="pt-BR" dirty="0"/>
              <a:t> ou looping)</a:t>
            </a:r>
          </a:p>
          <a:p>
            <a:pPr lvl="2"/>
            <a:r>
              <a:rPr lang="pt-BR" dirty="0"/>
              <a:t>Inicio</a:t>
            </a:r>
          </a:p>
          <a:p>
            <a:pPr lvl="2"/>
            <a:r>
              <a:rPr lang="pt-BR" dirty="0"/>
              <a:t>   Faça algo até...</a:t>
            </a:r>
          </a:p>
          <a:p>
            <a:pPr lvl="2"/>
            <a:r>
              <a:rPr lang="pt-BR" dirty="0"/>
              <a:t>   Incrementando </a:t>
            </a:r>
          </a:p>
          <a:p>
            <a:pPr lvl="2"/>
            <a:r>
              <a:rPr lang="pt-BR" dirty="0"/>
              <a:t>fim</a:t>
            </a:r>
          </a:p>
        </p:txBody>
      </p:sp>
    </p:spTree>
    <p:extLst>
      <p:ext uri="{BB962C8B-B14F-4D97-AF65-F5344CB8AC3E}">
        <p14:creationId xmlns:p14="http://schemas.microsoft.com/office/powerpoint/2010/main" val="254811153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EB610CC-BF91-44CE-80CF-7A6C3C4DA8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Desafio ETL  </a:t>
            </a:r>
            <a:r>
              <a:rPr lang="pt-BR" b="1" dirty="0"/>
              <a:t>01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EBC8799-E0AE-4A6D-BD82-C4E0B2CD0ED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b="1" dirty="0">
                <a:highlight>
                  <a:srgbClr val="FFFF00"/>
                </a:highlight>
              </a:rPr>
              <a:t>Passo 1 (entendimento)</a:t>
            </a:r>
          </a:p>
          <a:p>
            <a:pPr lvl="1"/>
            <a:r>
              <a:rPr lang="pt-BR" dirty="0"/>
              <a:t>Qual o problema que eu tenho que resolver.</a:t>
            </a:r>
          </a:p>
          <a:p>
            <a:pPr lvl="1"/>
            <a:r>
              <a:rPr lang="pt-BR" dirty="0"/>
              <a:t>Entender como funciona o  algoritmo de calcular um número par.</a:t>
            </a:r>
          </a:p>
          <a:p>
            <a:pPr lvl="2"/>
            <a:r>
              <a:rPr lang="pt-BR" dirty="0"/>
              <a:t>Vou receber um número de um ERP (sistema externo)</a:t>
            </a:r>
          </a:p>
          <a:p>
            <a:pPr lvl="3"/>
            <a:r>
              <a:rPr lang="pt-BR" dirty="0"/>
              <a:t>O ERP envia o número inteiro</a:t>
            </a:r>
          </a:p>
          <a:p>
            <a:pPr lvl="3"/>
            <a:r>
              <a:rPr lang="pt-BR" dirty="0"/>
              <a:t>A procedure recebe o número inteiro</a:t>
            </a:r>
          </a:p>
          <a:p>
            <a:pPr lvl="3"/>
            <a:r>
              <a:rPr lang="pt-BR" dirty="0"/>
              <a:t>A procedure realizar o cálculo de verificação de par e impar</a:t>
            </a:r>
          </a:p>
          <a:p>
            <a:pPr lvl="3"/>
            <a:r>
              <a:rPr lang="pt-BR" dirty="0"/>
              <a:t>A procedure mostra  a mensagem de o número é par ou impar (inteiro e vai trazer de volta uma </a:t>
            </a:r>
            <a:r>
              <a:rPr lang="pt-BR" dirty="0" err="1"/>
              <a:t>string</a:t>
            </a:r>
            <a:r>
              <a:rPr lang="pt-BR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465162196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663</TotalTime>
  <Words>635</Words>
  <Application>Microsoft Office PowerPoint</Application>
  <PresentationFormat>Widescreen</PresentationFormat>
  <Paragraphs>92</Paragraphs>
  <Slides>34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34</vt:i4>
      </vt:variant>
    </vt:vector>
  </HeadingPairs>
  <TitlesOfParts>
    <vt:vector size="39" baseType="lpstr">
      <vt:lpstr>Arial Unicode MS</vt:lpstr>
      <vt:lpstr>Arial</vt:lpstr>
      <vt:lpstr>Calibri</vt:lpstr>
      <vt:lpstr>Calibri Light</vt:lpstr>
      <vt:lpstr>Tema do Office</vt:lpstr>
      <vt:lpstr>Desafios</vt:lpstr>
      <vt:lpstr>Apresentação do PowerPoint</vt:lpstr>
      <vt:lpstr>Desafio SQL 01 (SGDB MySQL)</vt:lpstr>
      <vt:lpstr>Apresentação do PowerPoint</vt:lpstr>
      <vt:lpstr>Apresentação do PowerPoint</vt:lpstr>
      <vt:lpstr>Desafio 02: Extraindo a Extensão do Arquivo (O Banner) </vt:lpstr>
      <vt:lpstr>Apresentação do PowerPoint</vt:lpstr>
      <vt:lpstr>Apresentação do PowerPoint</vt:lpstr>
      <vt:lpstr>Desafio SQL – 03 (DDL)</vt:lpstr>
      <vt:lpstr>Apresentação do PowerPoint</vt:lpstr>
      <vt:lpstr>Apresentação do PowerPoint</vt:lpstr>
      <vt:lpstr>Desafio 04 – Trim( )</vt:lpstr>
      <vt:lpstr>Apresentação do PowerPoint</vt:lpstr>
      <vt:lpstr>Apresentação do PowerPoint</vt:lpstr>
      <vt:lpstr>Apresentação do PowerPoint</vt:lpstr>
      <vt:lpstr>Desafio 05 – Trim( )</vt:lpstr>
      <vt:lpstr>Apresentação do PowerPoint</vt:lpstr>
      <vt:lpstr>Apresentação do PowerPoint</vt:lpstr>
      <vt:lpstr>Desafio 06 – Data e Hora</vt:lpstr>
      <vt:lpstr>Apresentação do PowerPoint</vt:lpstr>
      <vt:lpstr>TRIGGERS (gatilhos)</vt:lpstr>
      <vt:lpstr>SQL Avançado</vt:lpstr>
      <vt:lpstr>VIEWS</vt:lpstr>
      <vt:lpstr>Apresentação do PowerPoint</vt:lpstr>
      <vt:lpstr>Apresentação do PowerPoint</vt:lpstr>
      <vt:lpstr>Apresentação do PowerPoint</vt:lpstr>
      <vt:lpstr>Apresentação do PowerPoint</vt:lpstr>
      <vt:lpstr>Stored Procedure</vt:lpstr>
      <vt:lpstr>Apresentação do PowerPoint</vt:lpstr>
      <vt:lpstr>Apresentação do PowerPoint</vt:lpstr>
      <vt:lpstr>Apresentação do PowerPoint</vt:lpstr>
      <vt:lpstr>Stored Procedure ou Functions</vt:lpstr>
      <vt:lpstr>Programação</vt:lpstr>
      <vt:lpstr>Desafio ETL  01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Desafios</dc:title>
  <dc:creator>PROFESSOR</dc:creator>
  <cp:lastModifiedBy>PROFESSOR</cp:lastModifiedBy>
  <cp:revision>20</cp:revision>
  <dcterms:created xsi:type="dcterms:W3CDTF">2026-06-17T11:21:35Z</dcterms:created>
  <dcterms:modified xsi:type="dcterms:W3CDTF">2026-06-23T15:03:37Z</dcterms:modified>
</cp:coreProperties>
</file>